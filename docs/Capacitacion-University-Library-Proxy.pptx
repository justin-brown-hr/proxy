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de apoyo a la capacitación. El manual escrito contiene el detalle completo; estas láminas guían la sesión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módulos son independientes: la audiencia no técnica puede omitir el módulo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Bloque introductorio: contexto y arquitectura antes de tocar la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Insistir en la diferencia entre 'no tengo sesión' y 'la editorial no reconoce la IP': son dos fallos distintos con soluciones distintas.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a cada participante que explique una capacidad con sus palabras.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 decisión de acceso ocurre en un único punto: la puerta de autorización.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Ejercicio A1: reconocer estos nombres en la salida de docker compose 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Ejercicio guiado sobre el sistema real; basta con acceso de lectura.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tercer caso se practica completo en el módulo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Insistir: añadir una base es un cambio de datos, no de configuración de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65960"/>
          </a:xfrm>
          <a:prstGeom prst="rect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CAPACITACIÓN Y TRANSFERENCIA DE CONOCIMIENTO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1057839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University Library Proxy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31720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50" b="0" i="0">
                <a:solidFill>
                  <a:srgbClr val="CFE1F5"/>
                </a:solidFill>
                <a:latin typeface="Calibri"/>
              </a:rPr>
              <a:t>Acceso remoto unificado a los recursos electrónicos de la biblioteca: cómo funciona, cómo se opera y cómo se mantiene.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611880"/>
            <a:ext cx="2572435" cy="1417320"/>
          </a:xfrm>
          <a:prstGeom prst="roundRect">
            <a:avLst>
              <a:gd name="adj" fmla="val 7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3822191"/>
            <a:ext cx="213352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Inicio de sesión único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407408"/>
            <a:ext cx="213352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CFE1F5"/>
                </a:solidFill>
                <a:latin typeface="Calibri"/>
              </a:rPr>
              <a:t>Una autenticación para todo el catálogo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5395" y="3611880"/>
            <a:ext cx="2572435" cy="1417320"/>
          </a:xfrm>
          <a:prstGeom prst="roundRect">
            <a:avLst>
              <a:gd name="adj" fmla="val 7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4851" y="3822191"/>
            <a:ext cx="213352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Reescritura de URLs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4851" y="4407408"/>
            <a:ext cx="213352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CFE1F5"/>
                </a:solidFill>
                <a:latin typeface="Calibri"/>
              </a:rPr>
              <a:t>La navegación no sale del dominio institucional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863" y="3611880"/>
            <a:ext cx="2572435" cy="1417320"/>
          </a:xfrm>
          <a:prstGeom prst="roundRect">
            <a:avLst>
              <a:gd name="adj" fmla="val 7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3319" y="3822191"/>
            <a:ext cx="213352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Invitados con aprobación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3319" y="4407408"/>
            <a:ext cx="213352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CFE1F5"/>
                </a:solidFill>
                <a:latin typeface="Calibri"/>
              </a:rPr>
              <a:t>Alta pública, validación del bibliotecario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331" y="3611880"/>
            <a:ext cx="2572435" cy="1417320"/>
          </a:xfrm>
          <a:prstGeom prst="roundRect">
            <a:avLst>
              <a:gd name="adj" fmla="val 7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1787" y="3822191"/>
            <a:ext cx="213352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Analítica de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1787" y="4407408"/>
            <a:ext cx="213352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CFE1F5"/>
                </a:solidFill>
                <a:latin typeface="Calibri"/>
              </a:rPr>
              <a:t>Informes exportables en CSV, XML y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71500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9EC4EE"/>
                </a:solidFill>
                <a:latin typeface="Calibri"/>
              </a:rPr>
              <a:t>Nginx · Keycloak · oauth2-proxy · Portal de invitados · OpenLDAP · PostgreSQL · Metabase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14476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1">
                <a:solidFill>
                  <a:srgbClr val="9EC4EE"/>
                </a:solidFill>
                <a:latin typeface="Calibri"/>
              </a:rPr>
              <a:t>Material de apoyo: manual técnico, operativo y de capacitación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CURRÍCULO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Lo que cubre esta capacitación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950974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5A6472"/>
                </a:solidFill>
                <a:latin typeface="Calibri"/>
              </a:rPr>
              <a:t>Siete módulos, cada uno con una parte expositiva, un ejercicio sobre el sistema y un criterio de evaluación.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084831"/>
            <a:ext cx="2586151" cy="1572768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2322576"/>
            <a:ext cx="384048" cy="384048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2350008"/>
            <a:ext cx="159859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ambria"/>
              </a:rPr>
              <a:t>Visión y arquitectura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889504"/>
            <a:ext cx="2110663" cy="530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Qué resuelve el sistema y de qué piezas se compone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0823" y="2084831"/>
            <a:ext cx="2586151" cy="1572768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28567" y="2322576"/>
            <a:ext cx="384048" cy="384048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0631" y="2350008"/>
            <a:ext cx="159859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ambria"/>
              </a:rPr>
              <a:t>Identidad, SSO y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8567" y="2889504"/>
            <a:ext cx="2110663" cy="530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Cómo entra cada perfil de usuario y qué puede hacer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4719" y="2084831"/>
            <a:ext cx="2586151" cy="1572768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2463" y="2322576"/>
            <a:ext cx="384048" cy="384048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4527" y="2350008"/>
            <a:ext cx="159859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ambria"/>
              </a:rPr>
              <a:t>Recursos editoriales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463" y="2889504"/>
            <a:ext cx="2110663" cy="530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Publicar y mantener bases de datos en el catálogo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8615" y="2084831"/>
            <a:ext cx="2586151" cy="1572768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76359" y="2322576"/>
            <a:ext cx="384048" cy="384048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8423" y="2350008"/>
            <a:ext cx="159859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ambria"/>
              </a:rPr>
              <a:t>Portal de invitados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6359" y="2889504"/>
            <a:ext cx="2110663" cy="530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Solicitud, aprobación y rechazo de accesos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840479"/>
            <a:ext cx="2586151" cy="1572768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078223"/>
            <a:ext cx="384048" cy="384048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4105655"/>
            <a:ext cx="159859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ambria"/>
              </a:rPr>
              <a:t>Federación LDAP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645151"/>
            <a:ext cx="211066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Integración con el directorio institucional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90823" y="3840479"/>
            <a:ext cx="2586151" cy="1572768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28567" y="4078223"/>
            <a:ext cx="384048" cy="384048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40631" y="4105655"/>
            <a:ext cx="159859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ambria"/>
              </a:rPr>
              <a:t>Analítica y Metabase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8567" y="4645151"/>
            <a:ext cx="211066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Construir y exportar informes de uso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4719" y="3840479"/>
            <a:ext cx="2586151" cy="1572768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52463" y="4078223"/>
            <a:ext cx="384048" cy="384048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4527" y="4105655"/>
            <a:ext cx="159859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ambria"/>
              </a:rPr>
              <a:t>Operación y contingencias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2463" y="4645151"/>
            <a:ext cx="2110663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Runbooks, validadores y diagnóstico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8615" y="3840480"/>
            <a:ext cx="2586151" cy="1572768"/>
          </a:xfrm>
          <a:prstGeom prst="roundRect">
            <a:avLst>
              <a:gd name="adj" fmla="val 6000"/>
            </a:avLst>
          </a:prstGeom>
          <a:solidFill>
            <a:srgbClr val="E6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76359" y="4078224"/>
            <a:ext cx="211066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142F5A"/>
                </a:solidFill>
                <a:latin typeface="Calibri"/>
              </a:rPr>
              <a:t>Todos los módulos se apoyan en el manual entregado, que queda como material de consulta permanente.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382512"/>
            <a:ext cx="10143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Módulos A–G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2331720"/>
            <a:ext cx="914400" cy="9144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00" b="1">
                <a:solidFill>
                  <a:srgbClr val="0A1B36"/>
                </a:solidFill>
                <a:latin typeface="Cambri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1368" y="2395728"/>
            <a:ext cx="98233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1368" y="3154680"/>
            <a:ext cx="93204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CFE1F5"/>
                </a:solidFill>
                <a:latin typeface="Calibri"/>
              </a:rPr>
              <a:t>Qué problema resuelve el sistema y cómo está construido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MÓDULO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El problema y la solución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5257800" cy="297180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201168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 i="0">
                <a:solidFill>
                  <a:srgbClr val="142F5A"/>
                </a:solidFill>
                <a:latin typeface="Cambria"/>
              </a:rPr>
              <a:t>Sin 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487168"/>
            <a:ext cx="4709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lnSpc>
                <a:spcPct val="108000"/>
              </a:lnSpc>
              <a:spcAft>
                <a:spcPts val="8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La editorial autoriza el acceso por dirección IP de la institución.</a:t>
            </a:r>
          </a:p>
          <a:p>
            <a:pPr algn="l" marL="171450" indent="-171450">
              <a:lnSpc>
                <a:spcPct val="108000"/>
              </a:lnSpc>
              <a:spcAft>
                <a:spcPts val="8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Quien se conecta desde su casa no cumple esa condición.</a:t>
            </a:r>
          </a:p>
          <a:p>
            <a:pPr algn="l" marL="171450" indent="-171450">
              <a:lnSpc>
                <a:spcPct val="108000"/>
              </a:lnSpc>
              <a:spcAft>
                <a:spcPts val="8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El recurso suscrito queda fuera de alcance fuera del campus.</a:t>
            </a:r>
          </a:p>
          <a:p>
            <a:pPr algn="l" marL="171450" indent="-171450">
              <a:lnSpc>
                <a:spcPct val="108000"/>
              </a:lnSpc>
              <a:spcAft>
                <a:spcPts val="8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Cada base exigiría su propia credencial y su propio trámite.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783080"/>
            <a:ext cx="5477256" cy="2971800"/>
          </a:xfrm>
          <a:prstGeom prst="roundRect">
            <a:avLst>
              <a:gd name="adj" fmla="val 5000"/>
            </a:avLst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2011680"/>
            <a:ext cx="4928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Con el proxy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487168"/>
            <a:ext cx="492861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lnSpc>
                <a:spcPct val="108000"/>
              </a:lnSpc>
              <a:spcAft>
                <a:spcPts val="800"/>
              </a:spcAft>
              <a:buClr>
                <a:srgbClr val="E8A33D"/>
              </a:buClr>
              <a:buFont typeface="Arial"/>
              <a:buChar char="▪"/>
            </a:pPr>
            <a:r>
              <a:rPr sz="1250" b="0" i="0">
                <a:solidFill>
                  <a:srgbClr val="CFE1F5"/>
                </a:solidFill>
                <a:latin typeface="Calibri"/>
              </a:rPr>
              <a:t>El usuario se identifica una sola vez contra el sistema institucional.</a:t>
            </a:r>
          </a:p>
          <a:p>
            <a:pPr algn="l" marL="171450" indent="-171450">
              <a:lnSpc>
                <a:spcPct val="108000"/>
              </a:lnSpc>
              <a:spcAft>
                <a:spcPts val="800"/>
              </a:spcAft>
              <a:buClr>
                <a:srgbClr val="E8A33D"/>
              </a:buClr>
              <a:buFont typeface="Arial"/>
              <a:buChar char="▪"/>
            </a:pPr>
            <a:r>
              <a:rPr sz="1250" b="0" i="0">
                <a:solidFill>
                  <a:srgbClr val="CFE1F5"/>
                </a:solidFill>
                <a:latin typeface="Calibri"/>
              </a:rPr>
              <a:t>Navega los recursos a través del dominio de la institución, que sí está autorizado.</a:t>
            </a:r>
          </a:p>
          <a:p>
            <a:pPr algn="l" marL="171450" indent="-171450">
              <a:lnSpc>
                <a:spcPct val="108000"/>
              </a:lnSpc>
              <a:spcAft>
                <a:spcPts val="800"/>
              </a:spcAft>
              <a:buClr>
                <a:srgbClr val="E8A33D"/>
              </a:buClr>
              <a:buFont typeface="Arial"/>
              <a:buChar char="▪"/>
            </a:pPr>
            <a:r>
              <a:rPr sz="1250" b="0" i="0">
                <a:solidFill>
                  <a:srgbClr val="CFE1F5"/>
                </a:solidFill>
                <a:latin typeface="Calibri"/>
              </a:rPr>
              <a:t>Los enlaces se reescriben para que la sesión no se pierda por el camino.</a:t>
            </a:r>
          </a:p>
          <a:p>
            <a:pPr algn="l" marL="171450" indent="-171450">
              <a:lnSpc>
                <a:spcPct val="108000"/>
              </a:lnSpc>
              <a:spcAft>
                <a:spcPts val="800"/>
              </a:spcAft>
              <a:buClr>
                <a:srgbClr val="E8A33D"/>
              </a:buClr>
              <a:buFont typeface="Arial"/>
              <a:buChar char="▪"/>
            </a:pPr>
            <a:r>
              <a:rPr sz="1250" b="0" i="0">
                <a:solidFill>
                  <a:srgbClr val="CFE1F5"/>
                </a:solidFill>
                <a:latin typeface="Calibri"/>
              </a:rPr>
              <a:t>Cada acceso queda registrado y es explotable en informes.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983480"/>
            <a:ext cx="11057839" cy="1024128"/>
          </a:xfrm>
          <a:prstGeom prst="roundRect">
            <a:avLst>
              <a:gd name="adj" fmla="val 5000"/>
            </a:avLst>
          </a:prstGeom>
          <a:solidFill>
            <a:srgbClr val="E6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5120640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142F5A"/>
                </a:solidFill>
                <a:latin typeface="Cambria"/>
              </a:rPr>
              <a:t>169.58.217.137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572414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Dirección IP de salida que la editorial debe autorizar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5230368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Si esa dirección no está autorizada, los recursos reales pueden fallar aunque el inicio de sesión funcione. El simulador editorial permite practicar sin esa dependencia.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MÓDULO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Qué permite 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950974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5A6472"/>
                </a:solidFill>
                <a:latin typeface="Calibri"/>
              </a:rPr>
              <a:t>Las capacidades que el equipo debe saber explicar ante cualquier consulta.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240280"/>
            <a:ext cx="3503066" cy="1572768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2478024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0A1B36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2505456"/>
            <a:ext cx="251551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42F5A"/>
                </a:solidFill>
                <a:latin typeface="Cambria"/>
              </a:rPr>
              <a:t>Inicio de sesión único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44952"/>
            <a:ext cx="302757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Una autenticación habilita el catálogo completo.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4314" y="2240280"/>
            <a:ext cx="3503066" cy="1572768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82058" y="2478024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0A1B36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4122" y="2505456"/>
            <a:ext cx="251551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42F5A"/>
                </a:solidFill>
                <a:latin typeface="Cambria"/>
              </a:rPr>
              <a:t>Reescritura de URLs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3044952"/>
            <a:ext cx="302757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Enlaces, PDF y hojas de estilo siguen pasando por el proxy.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1700" y="2240280"/>
            <a:ext cx="3503066" cy="1572768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59444" y="2478024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0A1B36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1508" y="2505456"/>
            <a:ext cx="251551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42F5A"/>
                </a:solidFill>
                <a:latin typeface="Cambria"/>
              </a:rPr>
              <a:t>Reconocimiento del campus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9444" y="3044952"/>
            <a:ext cx="302757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Desde las IP institucionales el acceso es directo.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23360"/>
            <a:ext cx="3503066" cy="1572768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261104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0A1B36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4288536"/>
            <a:ext cx="251551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42F5A"/>
                </a:solidFill>
                <a:latin typeface="Cambria"/>
              </a:rPr>
              <a:t>Gestión de invitados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828032"/>
            <a:ext cx="302757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Auto-registro con aprobación del bibliotecario.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4314" y="4023360"/>
            <a:ext cx="3503066" cy="1572768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82058" y="4261104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0A1B36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4122" y="4288536"/>
            <a:ext cx="251551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42F5A"/>
                </a:solidFill>
                <a:latin typeface="Cambria"/>
              </a:rPr>
              <a:t>Directorio institucional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2058" y="4828032"/>
            <a:ext cx="302757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Credenciales habituales mediante federación LDAP.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1700" y="4023360"/>
            <a:ext cx="3503066" cy="1572768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59444" y="4261104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0A1B36"/>
                </a:solidFill>
                <a:latin typeface="Cambr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1508" y="4288536"/>
            <a:ext cx="251551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42F5A"/>
                </a:solidFill>
                <a:latin typeface="Cambria"/>
              </a:rPr>
              <a:t>Analítica de uso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9444" y="4828032"/>
            <a:ext cx="302757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Informes por recurso, tipo de contenido y origen.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Recorrido de una petición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950974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5A6472"/>
                </a:solidFill>
                <a:latin typeface="Calibri"/>
              </a:rPr>
              <a:t>Nginx decide, en cada petición, si puede continuar o debe pasar por el inicio de sesión.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317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532888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 i="0">
                <a:solidFill>
                  <a:srgbClr val="142F5A"/>
                </a:solidFill>
                <a:latin typeface="Calibri"/>
              </a:rPr>
              <a:t>Navegador
del usuario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05456" y="2679191"/>
            <a:ext cx="457200" cy="219456"/>
          </a:xfrm>
          <a:prstGeom prst="rightArrow">
            <a:avLst/>
          </a:prstGeom>
          <a:solidFill>
            <a:srgbClr val="9EC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81528" y="2148839"/>
            <a:ext cx="2103120" cy="1280160"/>
          </a:xfrm>
          <a:prstGeom prst="roundRect">
            <a:avLst>
              <a:gd name="adj" fmla="val 8000"/>
            </a:avLst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18688" y="237743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Nginx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050" b="0" i="0">
                <a:solidFill>
                  <a:srgbClr val="CFE1F5"/>
                </a:solidFill>
                <a:latin typeface="Calibri"/>
              </a:rPr>
              <a:t>TLS · enrutado · reescritura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94376" y="2679191"/>
            <a:ext cx="457200" cy="219456"/>
          </a:xfrm>
          <a:prstGeom prst="rightArrow">
            <a:avLst/>
          </a:prstGeom>
          <a:solidFill>
            <a:srgbClr val="9EC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70448" y="2011679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7608" y="2221991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 i="0">
                <a:solidFill>
                  <a:srgbClr val="0A1B36"/>
                </a:solidFill>
                <a:latin typeface="Cambria"/>
              </a:rPr>
              <a:t>Puerta de autorización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0A1B36"/>
                </a:solidFill>
                <a:latin typeface="Calibri"/>
              </a:rPr>
              <a:t>¿IP de campus?  →  acceso directo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0A1B36"/>
                </a:solidFill>
                <a:latin typeface="Calibri"/>
              </a:rPr>
              <a:t>¿Cookie válida?  →  acceso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0A1B36"/>
                </a:solidFill>
                <a:latin typeface="Calibri"/>
              </a:rPr>
              <a:t>Si no  →  Keycloak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311896" y="2679191"/>
            <a:ext cx="457200" cy="219456"/>
          </a:xfrm>
          <a:prstGeom prst="rightArrow">
            <a:avLst/>
          </a:prstGeom>
          <a:solidFill>
            <a:srgbClr val="9EC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87967" y="1828799"/>
            <a:ext cx="2743200" cy="658368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59" y="1920239"/>
            <a:ext cx="24140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00" b="1" i="0">
                <a:solidFill>
                  <a:srgbClr val="142F5A"/>
                </a:solidFill>
                <a:latin typeface="Calibri"/>
              </a:rPr>
              <a:t>Catálogo y recursos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000" b="0" i="0">
                <a:solidFill>
                  <a:srgbClr val="5A6472"/>
                </a:solidFill>
                <a:latin typeface="Courier New"/>
              </a:rPr>
              <a:t>/databases.html · /r/&lt;base&gt;/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7" y="2606039"/>
            <a:ext cx="2743200" cy="658368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59" y="2697479"/>
            <a:ext cx="24140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00" b="1" i="0">
                <a:solidFill>
                  <a:srgbClr val="142F5A"/>
                </a:solidFill>
                <a:latin typeface="Calibri"/>
              </a:rPr>
              <a:t>Portal de invitados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000" b="0" i="0">
                <a:solidFill>
                  <a:srgbClr val="5A6472"/>
                </a:solidFill>
                <a:latin typeface="Courier New"/>
              </a:rPr>
              <a:t>/guest/ · /guest/admin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87967" y="3383279"/>
            <a:ext cx="2743200" cy="658368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59" y="3474720"/>
            <a:ext cx="24140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00" b="1" i="0">
                <a:solidFill>
                  <a:srgbClr val="142F5A"/>
                </a:solidFill>
                <a:latin typeface="Calibri"/>
              </a:rPr>
              <a:t>Analítica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000" b="0" i="0">
                <a:solidFill>
                  <a:srgbClr val="5A6472"/>
                </a:solidFill>
                <a:latin typeface="Courier New"/>
              </a:rPr>
              <a:t>/metabase/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43400"/>
            <a:ext cx="11057839" cy="1143000"/>
          </a:xfrm>
          <a:prstGeom prst="roundRect">
            <a:avLst>
              <a:gd name="adj" fmla="val 5000"/>
            </a:avLst>
          </a:prstGeom>
          <a:solidFill>
            <a:srgbClr val="0A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526280"/>
            <a:ext cx="104177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E8A33D"/>
                </a:solidFill>
                <a:latin typeface="Cambria"/>
              </a:rPr>
              <a:t>Y en paralelo, el registro de uso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919472"/>
            <a:ext cx="10417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 i="0">
                <a:solidFill>
                  <a:srgbClr val="CFE1F5"/>
                </a:solidFill>
                <a:latin typeface="Courier New"/>
              </a:rPr>
              <a:t>Nginx (library_access.log)   →   log-worker   →   PostgreSQL (analytics)   →   Metabase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10143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Figura 1 del manual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Los servicios de la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950974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5A6472"/>
                </a:solidFill>
                <a:latin typeface="Calibri"/>
              </a:rPr>
              <a:t>Nueve contenedores sobre una red interna y dos volúmenes de datos.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212848"/>
            <a:ext cx="3515258" cy="10972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395728"/>
            <a:ext cx="307634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ourier New"/>
              </a:rPr>
              <a:t>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761488"/>
            <a:ext cx="307634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Puerta de entrada, TLS y reescritura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2212848"/>
            <a:ext cx="3515258" cy="10972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7674" y="2395728"/>
            <a:ext cx="307634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ourier New"/>
              </a:rPr>
              <a:t>keycloak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7674" y="2761488"/>
            <a:ext cx="307634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Proveedor de identidad — realm library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9508" y="2212848"/>
            <a:ext cx="3515258" cy="10972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8964" y="2395728"/>
            <a:ext cx="307634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ourier New"/>
              </a:rPr>
              <a:t>oauth2-proxy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8964" y="2761488"/>
            <a:ext cx="307634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Valida la sesión en cada petición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93008"/>
            <a:ext cx="3515258" cy="10972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675887"/>
            <a:ext cx="307634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ourier New"/>
              </a:rPr>
              <a:t>postgres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041648"/>
            <a:ext cx="307634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Identidad, analítica y Metabase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8218" y="3493008"/>
            <a:ext cx="3515258" cy="10972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7674" y="3675887"/>
            <a:ext cx="307634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ourier New"/>
              </a:rPr>
              <a:t>guest-portal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7674" y="4041648"/>
            <a:ext cx="307634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Registro y aprobación de invitados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9508" y="3493008"/>
            <a:ext cx="3515258" cy="10972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8964" y="3675887"/>
            <a:ext cx="307634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ourier New"/>
              </a:rPr>
              <a:t>log-worker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8964" y="4041648"/>
            <a:ext cx="307634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Lleva el registro de accesos a la 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73168"/>
            <a:ext cx="3515258" cy="10972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956048"/>
            <a:ext cx="307634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ourier New"/>
              </a:rPr>
              <a:t>metabase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5321807"/>
            <a:ext cx="307634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Paneles, consultas y exportación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8218" y="4773168"/>
            <a:ext cx="3515258" cy="10972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7674" y="4956048"/>
            <a:ext cx="307634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ourier New"/>
              </a:rPr>
              <a:t>test-resource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7674" y="5321807"/>
            <a:ext cx="307634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Inicio y catálogo de bases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9508" y="4773168"/>
            <a:ext cx="3515258" cy="10972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8964" y="4956048"/>
            <a:ext cx="307634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ourier New"/>
              </a:rPr>
              <a:t>publisher-simulator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8964" y="5321807"/>
            <a:ext cx="307634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Editorial simulada para prácticas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382512"/>
            <a:ext cx="10143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Volúmenes: postgres_data · nginx_logs   |   Red: library-net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MÓDULO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Visión y arquitectura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120640" cy="402336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7" y="1901952"/>
            <a:ext cx="457200" cy="457200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7" y="1975104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142F5A"/>
                </a:solidFill>
                <a:latin typeface="Cambria"/>
              </a:rPr>
              <a:t>Contenidos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578608"/>
            <a:ext cx="45720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El acceso remoto a recursos suscritos y cómo lo resuelve el proxy.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Recorrido de una petición y punto único de decisión.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Función de cada contenedor y de los volúmenes de datos.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La dirección IP de salida y su relación con las editoriales.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7608" y="1691640"/>
            <a:ext cx="5617159" cy="2697480"/>
          </a:xfrm>
          <a:prstGeom prst="roundRect">
            <a:avLst>
              <a:gd name="adj" fmla="val 5000"/>
            </a:avLst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20240"/>
            <a:ext cx="5068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Ejercicio A1 — Reconocer la plataforma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95728"/>
            <a:ext cx="506851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1.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Abrir /healthz y confirmar la respuesta correcta.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2.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Listar los contenedores con docker compose ps.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3.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Identificar identidad, invitados y analítica en la salida.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4.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Señalar sobre el diagrama el camino de /r/simulator/.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8" y="4553712"/>
            <a:ext cx="5617159" cy="1161288"/>
          </a:xfrm>
          <a:prstGeom prst="roundRect">
            <a:avLst>
              <a:gd name="adj" fmla="val 5000"/>
            </a:avLst>
          </a:prstGeom>
          <a:solidFill>
            <a:srgbClr val="E6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4736592"/>
            <a:ext cx="5068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 i="0">
                <a:solidFill>
                  <a:srgbClr val="B97A1E"/>
                </a:solidFill>
                <a:latin typeface="Calibri"/>
              </a:rPr>
              <a:t>Criterio de evaluación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5084064"/>
            <a:ext cx="5068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42F5A"/>
                </a:solidFill>
                <a:latin typeface="Calibri"/>
              </a:rPr>
              <a:t>Nombra sin ayuda qué servicio atiende el inicio de sesión, cuál los invitados y cuál los informes.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2331720"/>
            <a:ext cx="914400" cy="9144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00" b="1">
                <a:solidFill>
                  <a:srgbClr val="0A1B36"/>
                </a:solidFill>
                <a:latin typeface="Cambria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1368" y="2395728"/>
            <a:ext cx="98233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Identidad y acceso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1368" y="3154680"/>
            <a:ext cx="93204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CFE1F5"/>
                </a:solidFill>
                <a:latin typeface="Calibri"/>
              </a:rPr>
              <a:t>Cómo entra cada perfil y qué puede hacer dentro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MÓDULO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Tres formas de llegar al recurso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3503066" cy="3931920"/>
          </a:xfrm>
          <a:prstGeom prst="roundRect">
            <a:avLst>
              <a:gd name="adj" fmla="val 6000"/>
            </a:avLst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Usuario remoto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42032"/>
            <a:ext cx="2991002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1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Abre el catálogo desde fuera del campus.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2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Nginx no encuentra sesión válida.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3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Keycloak solicita las credenciales.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4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Se establece la cookie de sesión.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5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Accede al catálogo y a los recursos.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4314" y="1783080"/>
            <a:ext cx="3503066" cy="3931920"/>
          </a:xfrm>
          <a:prstGeom prst="roundRect">
            <a:avLst>
              <a:gd name="adj" fmla="val 6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0346" y="2011680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Desde el campus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0346" y="2542032"/>
            <a:ext cx="2991002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1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Su IP está en INSTITUTIONAL_CIDRS.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2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La puerta reconoce el origen institucional.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3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El acceso se concede sin credenciales.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4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El origen queda reflejado en la analítica.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5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Se aplica tras regenerar y recargar Nginx.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1700" y="1783080"/>
            <a:ext cx="3503066" cy="3931920"/>
          </a:xfrm>
          <a:prstGeom prst="roundRect">
            <a:avLst>
              <a:gd name="adj" fmla="val 6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7732" y="2011680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0A1B36"/>
                </a:solidFill>
                <a:latin typeface="Cambria"/>
              </a:rPr>
              <a:t>Invitado aprobado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7732" y="2542032"/>
            <a:ext cx="2991002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0A1B36"/>
                </a:solidFill>
                <a:latin typeface="Calibri"/>
              </a:rPr>
              <a:t>1 </a:t>
            </a:r>
            <a:r>
              <a:rPr sz="1200" b="0" i="0">
                <a:solidFill>
                  <a:srgbClr val="0A1B36"/>
                </a:solidFill>
                <a:latin typeface="Calibri"/>
              </a:rPr>
              <a:t>Solicita el alta en /guest/.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0A1B36"/>
                </a:solidFill>
                <a:latin typeface="Calibri"/>
              </a:rPr>
              <a:t>2 </a:t>
            </a:r>
            <a:r>
              <a:rPr sz="1200" b="0" i="0">
                <a:solidFill>
                  <a:srgbClr val="0A1B36"/>
                </a:solidFill>
                <a:latin typeface="Calibri"/>
              </a:rPr>
              <a:t>La cuenta se crea deshabilitada.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0A1B36"/>
                </a:solidFill>
                <a:latin typeface="Calibri"/>
              </a:rPr>
              <a:t>3 </a:t>
            </a:r>
            <a:r>
              <a:rPr sz="1200" b="0" i="0">
                <a:solidFill>
                  <a:srgbClr val="0A1B36"/>
                </a:solidFill>
                <a:latin typeface="Calibri"/>
              </a:rPr>
              <a:t>El bibliotecario aprueba desde /guest/admin.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0A1B36"/>
                </a:solidFill>
                <a:latin typeface="Calibri"/>
              </a:rPr>
              <a:t>4 </a:t>
            </a:r>
            <a:r>
              <a:rPr sz="1200" b="0" i="0">
                <a:solidFill>
                  <a:srgbClr val="0A1B36"/>
                </a:solidFill>
                <a:latin typeface="Calibri"/>
              </a:rPr>
              <a:t>La cuenta queda habilitada con rol guest.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0A1B36"/>
                </a:solidFill>
                <a:latin typeface="Calibri"/>
              </a:rPr>
              <a:t>5 </a:t>
            </a:r>
            <a:r>
              <a:rPr sz="1200" b="0" i="0">
                <a:solidFill>
                  <a:srgbClr val="0A1B36"/>
                </a:solidFill>
                <a:latin typeface="Calibri"/>
              </a:rPr>
              <a:t>Inicia sesión como cualquier otro usuario.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MÓDULO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Roles y cuentas de práctica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20240"/>
            <a:ext cx="11057839" cy="457200"/>
          </a:xfrm>
          <a:prstGeom prst="roundRect">
            <a:avLst>
              <a:gd name="adj" fmla="val 3000"/>
            </a:avLst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203911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44368" y="203911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Quién 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0688" y="20391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Qué puede hacer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77440"/>
            <a:ext cx="11057839" cy="658368"/>
          </a:xfrm>
          <a:prstGeom prst="roundRect">
            <a:avLst>
              <a:gd name="adj" fmla="val 2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5786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 i="0">
                <a:solidFill>
                  <a:srgbClr val="142F5A"/>
                </a:solidFill>
                <a:latin typeface="Courier New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5968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Persona de la comunidad universitaria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2596896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Catálogo y recursos editoriales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35808"/>
            <a:ext cx="11057839" cy="6583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2369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 i="0">
                <a:solidFill>
                  <a:srgbClr val="142F5A"/>
                </a:solidFill>
                <a:latin typeface="Courier New"/>
              </a:rPr>
              <a:t>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32552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Bibliotecario responsable de accesos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255264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Todo lo anterior, más el panel de aprobación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4176"/>
            <a:ext cx="11057839" cy="658368"/>
          </a:xfrm>
          <a:prstGeom prst="roundRect">
            <a:avLst>
              <a:gd name="adj" fmla="val 2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89534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 i="0">
                <a:solidFill>
                  <a:srgbClr val="142F5A"/>
                </a:solidFill>
                <a:latin typeface="Courier New"/>
              </a:rPr>
              <a:t>guest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39136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Invitado o egresado aprobado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91363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Recursos habilitados para invitados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1772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855464"/>
            <a:ext cx="48737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42F5A"/>
                </a:solidFill>
                <a:latin typeface="Cambria"/>
              </a:rPr>
              <a:t>Cuentas de demostración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257800"/>
            <a:ext cx="4873752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Calibri"/>
              </a:rPr>
              <a:t>demo / demo123  ·  librarian / admin123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4617720"/>
            <a:ext cx="5388559" cy="1234440"/>
          </a:xfrm>
          <a:prstGeom prst="roundRect">
            <a:avLst>
              <a:gd name="adj" fmla="val 5000"/>
            </a:avLst>
          </a:prstGeom>
          <a:solidFill>
            <a:srgbClr val="E6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4800600"/>
            <a:ext cx="48399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B97A1E"/>
                </a:solidFill>
                <a:latin typeface="Cambria"/>
              </a:rPr>
              <a:t>Antes de abrir el servicio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5138928"/>
            <a:ext cx="483991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42F5A"/>
                </a:solidFill>
                <a:latin typeface="Calibri"/>
              </a:rPr>
              <a:t>Cambiar las contraseñas de demostración en Keycloak y rotar los secretos del archivo .env.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10143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Los roles se administran en Keycloak Admin → realm library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MÓDULO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Métodos de identidad adicionales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950974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5A6472"/>
                </a:solidFill>
                <a:latin typeface="Calibri"/>
              </a:rPr>
              <a:t>La puerta de Nginx consume siempre una sesión OIDC: los protocolos institucionales se añaden dentro de Keycloak, no en el servidor web.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487168"/>
            <a:ext cx="3503066" cy="12344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706624"/>
            <a:ext cx="30275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ambria"/>
              </a:rPr>
              <a:t>OAuth2 / OIDC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108960"/>
            <a:ext cx="30275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Activo hoy — cliente library-proxy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4314" y="2487168"/>
            <a:ext cx="3503066" cy="12344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2058" y="2706624"/>
            <a:ext cx="30275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ambria"/>
              </a:rPr>
              <a:t>LDAP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2058" y="3108960"/>
            <a:ext cx="30275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Federación de usuarios del directorio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1700" y="2487168"/>
            <a:ext cx="3503066" cy="12344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9444" y="2706624"/>
            <a:ext cx="30275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ambria"/>
              </a:rPr>
              <a:t>SAML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9444" y="3108960"/>
            <a:ext cx="30275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Identity provider en Keycloak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50208"/>
            <a:ext cx="3503066" cy="12344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169664"/>
            <a:ext cx="30275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ambria"/>
              </a:rPr>
              <a:t>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572000"/>
            <a:ext cx="30275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Identity provider en Keycloak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4314" y="3950208"/>
            <a:ext cx="3503066" cy="12344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2058" y="4169664"/>
            <a:ext cx="30275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ambria"/>
              </a:rPr>
              <a:t>LTI — Canvas, Moodle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2058" y="4572000"/>
            <a:ext cx="30275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Intermediario que abre sesión en el realm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1700" y="3950208"/>
            <a:ext cx="3503066" cy="12344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9444" y="4169664"/>
            <a:ext cx="30275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ambria"/>
              </a:rPr>
              <a:t>Entra ID / Google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9444" y="4572000"/>
            <a:ext cx="30275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Identity provider OIDC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10143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Detalle ampliado en docs/milestone2-auth-and-stanzas.md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MÓDULO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Identidad, SSO y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120640" cy="402336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7" y="1901952"/>
            <a:ext cx="457200" cy="457200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7" y="1975104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142F5A"/>
                </a:solidFill>
                <a:latin typeface="Cambria"/>
              </a:rPr>
              <a:t>Contenidos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578608"/>
            <a:ext cx="45720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Acceso remoto con inicio de sesión frente a acceso reconocido del campus.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Roles user, admin y guest: qué habilita cada uno.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Administración de cuentas en Keycloak, realm library.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Cierre de sesión y comportamiento esperado al volver.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7608" y="1691640"/>
            <a:ext cx="5617159" cy="2697480"/>
          </a:xfrm>
          <a:prstGeom prst="roundRect">
            <a:avLst>
              <a:gd name="adj" fmla="val 5000"/>
            </a:avLst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20240"/>
            <a:ext cx="5068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Ejercicios B1 y B2 — Dos perfiles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95728"/>
            <a:ext cx="506851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1.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Cerrar cualquier sesión previa del navegador.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2.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Entrar como demo y abrir el catálogo.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3.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Intentar /guest/admin y comprobar que se deniega.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4.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Entrar como librarian y abrir el panel de aprobación.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5.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Localizar en Keycloak el realm, los usuarios y los roles.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8" y="4553712"/>
            <a:ext cx="5617159" cy="1161288"/>
          </a:xfrm>
          <a:prstGeom prst="roundRect">
            <a:avLst>
              <a:gd name="adj" fmla="val 5000"/>
            </a:avLst>
          </a:prstGeom>
          <a:solidFill>
            <a:srgbClr val="E6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4736592"/>
            <a:ext cx="5068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 i="0">
                <a:solidFill>
                  <a:srgbClr val="B97A1E"/>
                </a:solidFill>
                <a:latin typeface="Calibri"/>
              </a:rPr>
              <a:t>Criterio de evaluación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5084064"/>
            <a:ext cx="5068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42F5A"/>
                </a:solidFill>
                <a:latin typeface="Calibri"/>
              </a:rPr>
              <a:t>Explica la diferencia entre una cuenta de la comunidad y una administradora, y sabe dónde se asignan los roles.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2331720"/>
            <a:ext cx="914400" cy="9144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00" b="1">
                <a:solidFill>
                  <a:srgbClr val="0A1B36"/>
                </a:solidFill>
                <a:latin typeface="Cambria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1368" y="2395728"/>
            <a:ext cx="98233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Recursos editoriales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1368" y="3154680"/>
            <a:ext cx="93204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CFE1F5"/>
                </a:solidFill>
                <a:latin typeface="Calibri"/>
              </a:rPr>
              <a:t>El catálogo, las stanzas y la reescritura de URLs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MÓDULO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Una base de datos es un archivo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950974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5A6472"/>
                </a:solidFill>
                <a:latin typeface="Calibri"/>
              </a:rPr>
              <a:t>Cada recurso se describe en una stanza YAML; el generador produce la configuración de Nginx y el catálogo visible.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423160"/>
            <a:ext cx="5577840" cy="3017520"/>
          </a:xfrm>
          <a:prstGeom prst="roundRect">
            <a:avLst>
              <a:gd name="adj" fmla="val 5000"/>
            </a:avLst>
          </a:prstGeom>
          <a:solidFill>
            <a:srgbClr val="0F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587752"/>
            <a:ext cx="5175503" cy="2688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CFE1F5"/>
                </a:solidFill>
                <a:latin typeface="Courier New"/>
              </a:rPr>
              <a:t>name: simulator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CFE1F5"/>
                </a:solidFill>
                <a:latin typeface="Courier New"/>
              </a:rPr>
              <a:t>title: Revista de demostracion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CFE1F5"/>
                </a:solidFill>
                <a:latin typeface="Courier New"/>
              </a:rPr>
              <a:t>enabled: true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CFE1F5"/>
                </a:solidFill>
                <a:latin typeface="Courier New"/>
              </a:rPr>
              <a:t>mode: simulator          # live | simulator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CFE1F5"/>
                </a:solidFill>
                <a:latin typeface="Courier New"/>
              </a:rPr>
              <a:t>target: http://publisher-simulator:80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CFE1F5"/>
                </a:solidFill>
                <a:latin typeface="Courier New"/>
              </a:rPr>
              <a:t>host_header: publisher-simulator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CFE1F5"/>
                </a:solidFill>
                <a:latin typeface="Courier New"/>
              </a:rPr>
              <a:t>start_path: /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CFE1F5"/>
                </a:solidFill>
                <a:latin typeface="Courier New"/>
              </a:rPr>
              <a:t>find_replace: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CFE1F5"/>
                </a:solidFill>
                <a:latin typeface="Courier New"/>
              </a:rPr>
              <a:t>  - find: "https://publisher.example/"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CFE1F5"/>
                </a:solidFill>
                <a:latin typeface="Courier New"/>
              </a:rPr>
              <a:t>    replace: "{{PROXY_BASE}}/"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64808" y="2423160"/>
            <a:ext cx="5159959" cy="68580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93408" y="25328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142F5A"/>
                </a:solidFill>
                <a:latin typeface="Courier New"/>
              </a:rP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3408" y="2807208"/>
            <a:ext cx="4702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Define la ruta pública /r/&lt;name&gt;/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64808" y="3200400"/>
            <a:ext cx="5159959" cy="68580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33101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142F5A"/>
                </a:solidFill>
                <a:latin typeface="Courier New"/>
              </a:rPr>
              <a:t>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3584448"/>
            <a:ext cx="4702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live para una editorial real; simulator para prácticas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4808" y="3977639"/>
            <a:ext cx="5159959" cy="68580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408736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142F5A"/>
                </a:solidFill>
                <a:latin typeface="Courier New"/>
              </a:rP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4361688"/>
            <a:ext cx="4702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Origen al que se reenvía la petición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4808" y="4754879"/>
            <a:ext cx="5159959" cy="68580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4864607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142F5A"/>
                </a:solidFill>
                <a:latin typeface="Courier New"/>
              </a:rPr>
              <a:t>find_replace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5138927"/>
            <a:ext cx="4702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Reglas de reescritura de los enlaces del editor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82512"/>
            <a:ext cx="10143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stanzas/simulator.yml   ·   scripts/generate-proxy-conf.py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MÓDULO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Publicar una base nueva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65960"/>
            <a:ext cx="2050633" cy="1874519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" y="2176272"/>
            <a:ext cx="420624" cy="42062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0A1B36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743200"/>
            <a:ext cx="161172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42F5A"/>
                </a:solidFill>
                <a:latin typeface="Cambria"/>
              </a:rPr>
              <a:t>Copiar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090672"/>
            <a:ext cx="161172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Duplicar una stanza existente como plantilla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35849" y="2788920"/>
            <a:ext cx="164592" cy="146304"/>
          </a:xfrm>
          <a:prstGeom prst="rightArrow">
            <a:avLst/>
          </a:prstGeom>
          <a:solidFill>
            <a:srgbClr val="9EC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18729" y="1965960"/>
            <a:ext cx="2050633" cy="1874519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38185" y="2176272"/>
            <a:ext cx="420624" cy="42062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0A1B36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8185" y="2743200"/>
            <a:ext cx="161172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42F5A"/>
                </a:solidFill>
                <a:latin typeface="Cambria"/>
              </a:rPr>
              <a:t>Completar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8185" y="3090672"/>
            <a:ext cx="161172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name, title, target, host_header y reglas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7650" y="2788920"/>
            <a:ext cx="164592" cy="146304"/>
          </a:xfrm>
          <a:prstGeom prst="rightArrow">
            <a:avLst/>
          </a:prstGeom>
          <a:solidFill>
            <a:srgbClr val="9EC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70530" y="1965960"/>
            <a:ext cx="2050633" cy="1874519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89986" y="2176272"/>
            <a:ext cx="420624" cy="42062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0A1B36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9986" y="2743200"/>
            <a:ext cx="161172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42F5A"/>
                </a:solidFill>
                <a:latin typeface="Cambria"/>
              </a:rPr>
              <a:t>Generar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9986" y="3090672"/>
            <a:ext cx="161172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Ejecutar generate-proxy-conf.py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39452" y="2788920"/>
            <a:ext cx="164592" cy="146304"/>
          </a:xfrm>
          <a:prstGeom prst="rightArrow">
            <a:avLst/>
          </a:prstGeom>
          <a:solidFill>
            <a:srgbClr val="9EC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22332" y="1965960"/>
            <a:ext cx="2050633" cy="1874519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41788" y="2176272"/>
            <a:ext cx="420624" cy="42062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0A1B36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1788" y="2743200"/>
            <a:ext cx="161172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42F5A"/>
                </a:solidFill>
                <a:latin typeface="Cambria"/>
              </a:rPr>
              <a:t>Recargar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1788" y="3090672"/>
            <a:ext cx="161172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nginx -s reload aplica el cambio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391253" y="2788920"/>
            <a:ext cx="164592" cy="146304"/>
          </a:xfrm>
          <a:prstGeom prst="rightArrow">
            <a:avLst/>
          </a:prstGeom>
          <a:solidFill>
            <a:srgbClr val="9EC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74133" y="1965960"/>
            <a:ext cx="2050633" cy="1874519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93589" y="2176272"/>
            <a:ext cx="420624" cy="42062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0A1B36"/>
                </a:solidFill>
                <a:latin typeface="Cambr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3589" y="2743200"/>
            <a:ext cx="161172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42F5A"/>
                </a:solidFill>
                <a:latin typeface="Cambria"/>
              </a:rPr>
              <a:t>Verificar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3589" y="3090672"/>
            <a:ext cx="161172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Aparece en el catálogo y su ruta responde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114800"/>
            <a:ext cx="11057839" cy="960120"/>
          </a:xfrm>
          <a:prstGeom prst="roundRect">
            <a:avLst>
              <a:gd name="adj" fmla="val 5000"/>
            </a:avLst>
          </a:prstGeom>
          <a:solidFill>
            <a:srgbClr val="0F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279392"/>
            <a:ext cx="10655503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CFE1F5"/>
                </a:solidFill>
                <a:latin typeface="Courier New"/>
              </a:rPr>
              <a:t>PUBLIC_HOST=proxy.bibliolatino.com PUBLIC_SCHEME=https ./scripts/generate-proxy-conf.py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CFE1F5"/>
                </a:solidFill>
                <a:latin typeface="Courier New"/>
              </a:rPr>
              <a:t>docker compose exec nginx nginx -s reload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303520"/>
            <a:ext cx="11057839" cy="685800"/>
          </a:xfrm>
          <a:prstGeom prst="roundRect">
            <a:avLst>
              <a:gd name="adj" fmla="val 5000"/>
            </a:avLst>
          </a:prstGeom>
          <a:solidFill>
            <a:srgbClr val="E6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5468112"/>
            <a:ext cx="105091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42F5A"/>
                </a:solidFill>
                <a:latin typeface="Calibri"/>
              </a:rPr>
              <a:t>Si el recurso es real, la editorial debe autorizar la IP de salida antes de anunciarlo a la comunidad.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MÓDULO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Recursos editoriales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120640" cy="402336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7" y="1901952"/>
            <a:ext cx="457200" cy="457200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7" y="1975104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142F5A"/>
                </a:solidFill>
                <a:latin typeface="Cambria"/>
              </a:rPr>
              <a:t>Contenidos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578608"/>
            <a:ext cx="45720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El catálogo databases.html y cómo se genera.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Estructura de una stanza y significado de cada clave.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Regeneración de la configuración y recarga de Nginx.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Por qué existe el simulador y cuándo usarlo.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Autorización de la IP de salida en recursos reales.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7608" y="1691640"/>
            <a:ext cx="5617159" cy="2697480"/>
          </a:xfrm>
          <a:prstGeom prst="roundRect">
            <a:avLst>
              <a:gd name="adj" fmla="val 5000"/>
            </a:avLst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20240"/>
            <a:ext cx="5068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Ejercicios C1 y C2 — Navegar y publicar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95728"/>
            <a:ext cx="506851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1.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Abrir /r/simulator/ y navegar un artículo y un PDF.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2.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Comprobar que la dirección sigue en el dominio institucional.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3.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Copiar simulator.yml a demo2.yml y cambiar name y title.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4.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Regenerar la configuración y recargar Nginx.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5.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Verificar el recurso nuevo en el catálogo.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8" y="4553712"/>
            <a:ext cx="5617159" cy="1161288"/>
          </a:xfrm>
          <a:prstGeom prst="roundRect">
            <a:avLst>
              <a:gd name="adj" fmla="val 5000"/>
            </a:avLst>
          </a:prstGeom>
          <a:solidFill>
            <a:srgbClr val="E6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4736592"/>
            <a:ext cx="5068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 i="0">
                <a:solidFill>
                  <a:srgbClr val="B97A1E"/>
                </a:solidFill>
                <a:latin typeface="Calibri"/>
              </a:rPr>
              <a:t>Criterio de evaluación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5084064"/>
            <a:ext cx="5068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42F5A"/>
                </a:solidFill>
                <a:latin typeface="Calibri"/>
              </a:rPr>
              <a:t>Indica qué archivo crear para una base nueva y qué comando publica el cambio.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82512"/>
            <a:ext cx="10143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El ejercicio C2 se realiza en el entorno de laboratorio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2331720"/>
            <a:ext cx="914400" cy="9144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00" b="1">
                <a:solidFill>
                  <a:srgbClr val="0A1B36"/>
                </a:solidFill>
                <a:latin typeface="Cambria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1368" y="2395728"/>
            <a:ext cx="98233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Invitados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1368" y="3154680"/>
            <a:ext cx="93204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CFE1F5"/>
                </a:solidFill>
                <a:latin typeface="Calibri"/>
              </a:rPr>
              <a:t>Del formulario público a la cuenta habilitada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MÓDULO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Ciclo de una solicitud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65960"/>
            <a:ext cx="2050633" cy="2148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" y="2194560"/>
            <a:ext cx="420624" cy="42062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0A1B36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761488"/>
            <a:ext cx="161172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42F5A"/>
                </a:solidFill>
                <a:latin typeface="Cambria"/>
              </a:rPr>
              <a:t>Solicitud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127248"/>
            <a:ext cx="161172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El visitante completa el formulario público en /guest/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35849" y="2926080"/>
            <a:ext cx="164592" cy="146304"/>
          </a:xfrm>
          <a:prstGeom prst="rightArrow">
            <a:avLst/>
          </a:prstGeom>
          <a:solidFill>
            <a:srgbClr val="9EC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18729" y="1965960"/>
            <a:ext cx="2050633" cy="2148840"/>
          </a:xfrm>
          <a:prstGeom prst="roundRect">
            <a:avLst>
              <a:gd name="adj" fmla="val 6000"/>
            </a:avLst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38185" y="2194560"/>
            <a:ext cx="420624" cy="42062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0A1B36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8185" y="2761488"/>
            <a:ext cx="161172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Cuenta creada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8185" y="3127248"/>
            <a:ext cx="161172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CFE1F5"/>
                </a:solidFill>
                <a:latin typeface="Calibri"/>
              </a:rPr>
              <a:t>Se crea deshabilitada, con estado pendiente y rol guest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7650" y="2926080"/>
            <a:ext cx="164592" cy="146304"/>
          </a:xfrm>
          <a:prstGeom prst="rightArrow">
            <a:avLst/>
          </a:prstGeom>
          <a:solidFill>
            <a:srgbClr val="9EC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70530" y="1965960"/>
            <a:ext cx="2050633" cy="2148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89986" y="2194560"/>
            <a:ext cx="420624" cy="42062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0A1B36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9986" y="2761488"/>
            <a:ext cx="161172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42F5A"/>
                </a:solidFill>
                <a:latin typeface="Cambria"/>
              </a:rPr>
              <a:t>Revisión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9986" y="3127248"/>
            <a:ext cx="161172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El bibliotecario abre /guest/admin y valida la identidad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39452" y="2926080"/>
            <a:ext cx="164592" cy="146304"/>
          </a:xfrm>
          <a:prstGeom prst="rightArrow">
            <a:avLst/>
          </a:prstGeom>
          <a:solidFill>
            <a:srgbClr val="9EC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22332" y="1965960"/>
            <a:ext cx="2050633" cy="2148840"/>
          </a:xfrm>
          <a:prstGeom prst="roundRect">
            <a:avLst>
              <a:gd name="adj" fmla="val 6000"/>
            </a:avLst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41788" y="2194560"/>
            <a:ext cx="420624" cy="42062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0A1B36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1788" y="2761488"/>
            <a:ext cx="161172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Decisión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1788" y="3127248"/>
            <a:ext cx="161172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CFE1F5"/>
                </a:solidFill>
                <a:latin typeface="Calibri"/>
              </a:rPr>
              <a:t>Aprobar habilita la cuenta; rechazar la deja sin acceso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391253" y="2926080"/>
            <a:ext cx="164592" cy="146304"/>
          </a:xfrm>
          <a:prstGeom prst="rightArrow">
            <a:avLst/>
          </a:prstGeom>
          <a:solidFill>
            <a:srgbClr val="9EC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74133" y="1965960"/>
            <a:ext cx="2050633" cy="2148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93589" y="2194560"/>
            <a:ext cx="420624" cy="42062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0A1B36"/>
                </a:solidFill>
                <a:latin typeface="Cambr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3589" y="2761488"/>
            <a:ext cx="161172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42F5A"/>
                </a:solidFill>
                <a:latin typeface="Cambria"/>
              </a:rPr>
              <a:t>Acceso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3589" y="3127248"/>
            <a:ext cx="161172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El invitado aprobado inicia sesión como cualquier usuario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38912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E6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457200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B97A1E"/>
                </a:solidFill>
                <a:latin typeface="Cambria"/>
              </a:rPr>
              <a:t>Por qué /guest/ siempre muestra el formulario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" y="4919472"/>
            <a:ext cx="4800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142F5A"/>
                </a:solidFill>
                <a:latin typeface="Calibri"/>
              </a:rPr>
              <a:t>Es una página pública de alta, no un área personal. La gestión ocurre en /guest/admin, que sí exige sesión y rol de administrador.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4389120"/>
            <a:ext cx="5388559" cy="146304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4572000"/>
            <a:ext cx="48399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42F5A"/>
                </a:solidFill>
                <a:latin typeface="Cambria"/>
              </a:rPr>
              <a:t>Sin tocar el núcleo del gestor de identidad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4919472"/>
            <a:ext cx="483991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Todo el flujo usa la API de administración y cuentas deshabilitadas, de modo que Keycloak puede actualizarse con normalidad.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MÓDULO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Portal de invitados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120640" cy="402336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7" y="1901952"/>
            <a:ext cx="457200" cy="457200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7" y="1975104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142F5A"/>
                </a:solidFill>
                <a:latin typeface="Cambria"/>
              </a:rPr>
              <a:t>Contenidos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578608"/>
            <a:ext cx="45720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Auto-registro sin modificar el gestor de identidad.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Estados: pendiente, aprobada y rechazada.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Reflejo opcional en el directorio institucional.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Qué ve el invitado en cada etapa del proceso.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7608" y="1691640"/>
            <a:ext cx="5617159" cy="2697480"/>
          </a:xfrm>
          <a:prstGeom prst="roundRect">
            <a:avLst>
              <a:gd name="adj" fmla="val 5000"/>
            </a:avLst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20240"/>
            <a:ext cx="5068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Ejercicio D1 — Ciclo completo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95728"/>
            <a:ext cx="506851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1.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Registrar un invitado de prueba desde una ventana privada.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2.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Localizar la solicitud pendiente en /guest/admin.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3.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Aprobarla y confirmar el cambio de estado.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4.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Iniciar sesión con la cuenta del invitado.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5.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Registrar y rechazar una segunda solicitud.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8" y="4553712"/>
            <a:ext cx="5617159" cy="1161288"/>
          </a:xfrm>
          <a:prstGeom prst="roundRect">
            <a:avLst>
              <a:gd name="adj" fmla="val 5000"/>
            </a:avLst>
          </a:prstGeom>
          <a:solidFill>
            <a:srgbClr val="E6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4736592"/>
            <a:ext cx="5068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 i="0">
                <a:solidFill>
                  <a:srgbClr val="B97A1E"/>
                </a:solidFill>
                <a:latin typeface="Calibri"/>
              </a:rPr>
              <a:t>Criterio de evaluación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5084064"/>
            <a:ext cx="5068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42F5A"/>
                </a:solidFill>
                <a:latin typeface="Calibri"/>
              </a:rPr>
              <a:t>Completa registro, aprobación e inicio de sesión del invitado sin asistencia.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2331720"/>
            <a:ext cx="914400" cy="9144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00" b="1">
                <a:solidFill>
                  <a:srgbClr val="0A1B36"/>
                </a:solidFill>
                <a:latin typeface="Cambria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1368" y="2395728"/>
            <a:ext cx="98233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Directorio y analítica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1368" y="3154680"/>
            <a:ext cx="93204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CFE1F5"/>
                </a:solidFill>
                <a:latin typeface="Calibri"/>
              </a:rPr>
              <a:t>Credenciales institucionales e informes de uso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MÓDULO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Federación LDAP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120640" cy="402336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7" y="1901952"/>
            <a:ext cx="457200" cy="457200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7" y="1975104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142F5A"/>
                </a:solidFill>
                <a:latin typeface="Cambria"/>
              </a:rPr>
              <a:t>Contenidos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578608"/>
            <a:ext cx="45720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Qué es federar usuarios y qué evita duplicar.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Qué hace el script configure-ldap-federation.sh.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Sincronización periódica frente a manual.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Relación con el portal de invitados (employeeType).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7608" y="1691640"/>
            <a:ext cx="5617159" cy="2697480"/>
          </a:xfrm>
          <a:prstGeom prst="roundRect">
            <a:avLst>
              <a:gd name="adj" fmla="val 5000"/>
            </a:avLst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20240"/>
            <a:ext cx="5068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Ejercicio E1 — Verificación del directorio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95728"/>
            <a:ext cx="506851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1.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Abrir User federation en Keycloak Admin.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2.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Comprobar el componente bibliolatino-ldap.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3.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Buscar una cuenta conocida del directorio.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4.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Iniciar sesión con credenciales institucionales.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5.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Lanzar una sincronización manual y revisar el resultado.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8" y="4553712"/>
            <a:ext cx="5617159" cy="1161288"/>
          </a:xfrm>
          <a:prstGeom prst="roundRect">
            <a:avLst>
              <a:gd name="adj" fmla="val 5000"/>
            </a:avLst>
          </a:prstGeom>
          <a:solidFill>
            <a:srgbClr val="E6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4736592"/>
            <a:ext cx="5068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 i="0">
                <a:solidFill>
                  <a:srgbClr val="B97A1E"/>
                </a:solidFill>
                <a:latin typeface="Calibri"/>
              </a:rPr>
              <a:t>Criterio de evaluación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5084064"/>
            <a:ext cx="5068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42F5A"/>
                </a:solidFill>
                <a:latin typeface="Calibri"/>
              </a:rPr>
              <a:t>Sabe dónde comprobar el estado de la federación y qué revisar si el directorio no autentica.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82512"/>
            <a:ext cx="10143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Módulo dirigido al equipo técnico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MÓDULO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Del acceso al informe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950974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5A6472"/>
                </a:solidFill>
                <a:latin typeface="Calibri"/>
              </a:rPr>
              <a:t>Cada petición autenticada deja una fila; esa fila acaba siendo un informe exportable.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77440"/>
            <a:ext cx="2524429" cy="160020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578608"/>
            <a:ext cx="204894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142F5A"/>
                </a:solidFill>
                <a:latin typeface="Courier New"/>
              </a:rPr>
              <a:t>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99232"/>
            <a:ext cx="204894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Registra cada acceso con usuario, recurso y origen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5365" y="3090672"/>
            <a:ext cx="201168" cy="164592"/>
          </a:xfrm>
          <a:prstGeom prst="rightArrow">
            <a:avLst/>
          </a:prstGeom>
          <a:solidFill>
            <a:srgbClr val="9EC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11397" y="2377440"/>
            <a:ext cx="2524429" cy="1600200"/>
          </a:xfrm>
          <a:prstGeom prst="roundRect">
            <a:avLst>
              <a:gd name="adj" fmla="val 6000"/>
            </a:avLst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9141" y="2578608"/>
            <a:ext cx="204894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urier New"/>
              </a:rPr>
              <a:t>log-worker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9141" y="2999232"/>
            <a:ext cx="204894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CFE1F5"/>
                </a:solidFill>
                <a:latin typeface="Calibri"/>
              </a:rPr>
              <a:t>Clasifica el tipo de contenido: pdf, video, article…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99835" y="3090672"/>
            <a:ext cx="201168" cy="164592"/>
          </a:xfrm>
          <a:prstGeom prst="rightArrow">
            <a:avLst/>
          </a:prstGeom>
          <a:solidFill>
            <a:srgbClr val="9EC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55867" y="2377440"/>
            <a:ext cx="2524429" cy="160020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3611" y="2578608"/>
            <a:ext cx="204894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142F5A"/>
                </a:solidFill>
                <a:latin typeface="Courier New"/>
              </a:rPr>
              <a:t>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3611" y="2999232"/>
            <a:ext cx="204894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Base analytics, tabla access_events y vistas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44305" y="3090672"/>
            <a:ext cx="201168" cy="164592"/>
          </a:xfrm>
          <a:prstGeom prst="rightArrow">
            <a:avLst/>
          </a:prstGeom>
          <a:solidFill>
            <a:srgbClr val="9EC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00337" y="2377440"/>
            <a:ext cx="2524429" cy="1600200"/>
          </a:xfrm>
          <a:prstGeom prst="roundRect">
            <a:avLst>
              <a:gd name="adj" fmla="val 6000"/>
            </a:avLst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8081" y="2578608"/>
            <a:ext cx="204894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urier New"/>
              </a:rPr>
              <a:t>Metabase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2999232"/>
            <a:ext cx="204894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CFE1F5"/>
                </a:solidFill>
                <a:latin typeface="Calibri"/>
              </a:rPr>
              <a:t>Preguntas, paneles y exportación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9768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4498848"/>
            <a:ext cx="4800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42F5A"/>
                </a:solidFill>
                <a:latin typeface="Cambria"/>
              </a:rPr>
              <a:t>Qué se puede responder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882896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lnSpc>
                <a:spcPct val="108000"/>
              </a:lnSpc>
              <a:spcAft>
                <a:spcPts val="500"/>
              </a:spcAft>
              <a:buClr>
                <a:srgbClr val="B97A1E"/>
              </a:buClr>
              <a:buFont typeface="Arial"/>
              <a:buChar char="▪"/>
            </a:pPr>
            <a:r>
              <a:rPr sz="1150" b="0" i="0">
                <a:solidFill>
                  <a:srgbClr val="5A6472"/>
                </a:solidFill>
                <a:latin typeface="Calibri"/>
              </a:rPr>
              <a:t>Accesos por recurso y por tipo de contenido.</a:t>
            </a:r>
          </a:p>
          <a:p>
            <a:pPr algn="l" marL="171450" indent="-171450">
              <a:lnSpc>
                <a:spcPct val="108000"/>
              </a:lnSpc>
              <a:spcAft>
                <a:spcPts val="500"/>
              </a:spcAft>
              <a:buClr>
                <a:srgbClr val="B97A1E"/>
              </a:buClr>
              <a:buFont typeface="Arial"/>
              <a:buChar char="▪"/>
            </a:pPr>
            <a:r>
              <a:rPr sz="1150" b="0" i="0">
                <a:solidFill>
                  <a:srgbClr val="5A6472"/>
                </a:solidFill>
                <a:latin typeface="Calibri"/>
              </a:rPr>
              <a:t>Uso desde el campus frente a uso remoto.</a:t>
            </a:r>
          </a:p>
          <a:p>
            <a:pPr algn="l" marL="171450" indent="-171450">
              <a:lnSpc>
                <a:spcPct val="108000"/>
              </a:lnSpc>
              <a:spcAft>
                <a:spcPts val="500"/>
              </a:spcAft>
              <a:buClr>
                <a:srgbClr val="B97A1E"/>
              </a:buClr>
              <a:buFont typeface="Arial"/>
              <a:buChar char="▪"/>
            </a:pPr>
            <a:r>
              <a:rPr sz="1150" b="0" i="0">
                <a:solidFill>
                  <a:srgbClr val="5A6472"/>
                </a:solidFill>
                <a:latin typeface="Calibri"/>
              </a:rPr>
              <a:t>Evolución diaria y usuarios únicos.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4297680"/>
            <a:ext cx="5388559" cy="1600200"/>
          </a:xfrm>
          <a:prstGeom prst="roundRect">
            <a:avLst>
              <a:gd name="adj" fmla="val 5000"/>
            </a:avLst>
          </a:prstGeom>
          <a:solidFill>
            <a:srgbClr val="E6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4498848"/>
            <a:ext cx="48399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B97A1E"/>
                </a:solidFill>
                <a:latin typeface="Cambria"/>
              </a:rPr>
              <a:t>Exportación directa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882896"/>
            <a:ext cx="483991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142F5A"/>
                </a:solidFill>
                <a:latin typeface="Calibri"/>
              </a:rPr>
              <a:t>Cualquier pregunta o panel se exporta en CSV, XML y PDF desde la propia interfaz, sin intervención del equipo de desarrollo.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MÓDULO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Metabase: puesta en marcha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28800"/>
            <a:ext cx="5486400" cy="379476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20299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142F5A"/>
                </a:solidFill>
                <a:latin typeface="Cambria"/>
              </a:rPr>
              <a:t>Conexión que debe crearse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514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Tipo de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64408" y="2514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142F5A"/>
                </a:solidFill>
                <a:latin typeface="Courier New"/>
              </a:rPr>
              <a:t>PostgreSQL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017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4408" y="3017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142F5A"/>
                </a:solidFill>
                <a:latin typeface="Courier New"/>
              </a:rPr>
              <a:t>postgres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52043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Base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352043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142F5A"/>
                </a:solidFill>
                <a:latin typeface="Courier New"/>
              </a:rPr>
              <a:t>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02335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Usuario y contraseña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402335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142F5A"/>
                </a:solidFill>
                <a:latin typeface="Courier New"/>
              </a:rPr>
              <a:t>POSTGRES_USER / POSTGRES_PASSWORD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52627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Esquemas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452627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142F5A"/>
                </a:solidFill>
                <a:latin typeface="Courier New"/>
              </a:rPr>
              <a:t>Todos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502919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SSL y túnel SSH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502919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142F5A"/>
                </a:solidFill>
                <a:latin typeface="Courier New"/>
              </a:rPr>
              <a:t>Desactivados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73368" y="1828800"/>
            <a:ext cx="5251399" cy="1783080"/>
          </a:xfrm>
          <a:prstGeom prst="roundRect">
            <a:avLst>
              <a:gd name="adj" fmla="val 5000"/>
            </a:avLst>
          </a:prstGeom>
          <a:solidFill>
            <a:srgbClr val="E6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029968"/>
            <a:ext cx="47027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B97A1E"/>
                </a:solidFill>
                <a:latin typeface="Cambria"/>
              </a:rPr>
              <a:t>El error más frecuente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414016"/>
            <a:ext cx="470275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142F5A"/>
                </a:solidFill>
                <a:latin typeface="Calibri"/>
              </a:rPr>
              <a:t>La pantalla inicial es el asistente genérico de Metabase: los nombres de servidor, base y usuario que muestra son ejemplos suyos, no datos de este sistema. Cerrar esa tarjeta y elegir PostgreSQL.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3840480"/>
            <a:ext cx="5251399" cy="1783080"/>
          </a:xfrm>
          <a:prstGeom prst="roundRect">
            <a:avLst>
              <a:gd name="adj" fmla="val 5000"/>
            </a:avLst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4041648"/>
            <a:ext cx="47027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E8A33D"/>
                </a:solidFill>
                <a:latin typeface="Cambria"/>
              </a:rPr>
              <a:t>Dos bases distintas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4425696"/>
            <a:ext cx="470275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ourier New"/>
              </a:rPr>
              <a:t>analytics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 contiene los datos de uso.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ourier New"/>
              </a:rPr>
              <a:t>metabase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 es la base interna de la herramienta.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382512"/>
            <a:ext cx="10143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La conexión la establece el contenedor, no el navegador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MÓDULO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Analítica y Metabase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120640" cy="402336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7" y="1901952"/>
            <a:ext cx="457200" cy="457200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7" y="1975104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142F5A"/>
                </a:solidFill>
                <a:latin typeface="Cambria"/>
              </a:rPr>
              <a:t>Contenidos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578608"/>
            <a:ext cx="45720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Origen del dato: registro, procesamiento y almacenamiento.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Diferencia entre la base analytics y la base metabase.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Tabla de eventos y vistas agregadas disponibles.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Formatos de exportación y usos habituales del informe.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7608" y="1691640"/>
            <a:ext cx="5617159" cy="2697480"/>
          </a:xfrm>
          <a:prstGeom prst="roundRect">
            <a:avLst>
              <a:gd name="adj" fmla="val 5000"/>
            </a:avLst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20240"/>
            <a:ext cx="5068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Ejercicio F1 — Del acceso al informe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95728"/>
            <a:ext cx="506851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1.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Generar tráfico: iniciar sesión y abrir /r/simulator/.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2.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Abrir /metabase/ y explorar access_events.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3.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Crear una pregunta por tipo de contenido.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4.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Exportar el resultado a CSV.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5.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Repetir la exportación en PDF.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8" y="4553712"/>
            <a:ext cx="5617159" cy="1161288"/>
          </a:xfrm>
          <a:prstGeom prst="roundRect">
            <a:avLst>
              <a:gd name="adj" fmla="val 5000"/>
            </a:avLst>
          </a:prstGeom>
          <a:solidFill>
            <a:srgbClr val="E6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4736592"/>
            <a:ext cx="5068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 i="0">
                <a:solidFill>
                  <a:srgbClr val="B97A1E"/>
                </a:solidFill>
                <a:latin typeface="Calibri"/>
              </a:rPr>
              <a:t>Criterio de evaluación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5084064"/>
            <a:ext cx="5068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42F5A"/>
                </a:solidFill>
                <a:latin typeface="Calibri"/>
              </a:rPr>
              <a:t>Obtiene un informe exportado usando únicamente la interfaz de Metabase.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2331720"/>
            <a:ext cx="914400" cy="9144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00" b="1">
                <a:solidFill>
                  <a:srgbClr val="0A1B36"/>
                </a:solidFill>
                <a:latin typeface="Cambria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1368" y="2395728"/>
            <a:ext cx="98233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1368" y="3154680"/>
            <a:ext cx="93204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CFE1F5"/>
                </a:solidFill>
                <a:latin typeface="Calibri"/>
              </a:rPr>
              <a:t>Procedimientos, validadores y diagnóstico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MÓDULO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Runbooks de 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950974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5A6472"/>
                </a:solidFill>
                <a:latin typeface="Calibri"/>
              </a:rPr>
              <a:t>Siete procedimientos breves que cubren la operación habitual del sistema.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77440"/>
            <a:ext cx="2586151" cy="150876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2615184"/>
            <a:ext cx="384048" cy="384048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R1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2642616"/>
            <a:ext cx="159859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ambria"/>
              </a:rPr>
              <a:t>Revisar el estado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182112"/>
            <a:ext cx="2110663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docker compose ps y registros de los servicios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0823" y="2377440"/>
            <a:ext cx="2586151" cy="150876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28567" y="2615184"/>
            <a:ext cx="384048" cy="384048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R2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0631" y="2642616"/>
            <a:ext cx="159859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ambria"/>
              </a:rPr>
              <a:t>Recargar Nginx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8567" y="3182112"/>
            <a:ext cx="2110663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Tras cambiar stanzas o rangos de campus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4719" y="2377440"/>
            <a:ext cx="2586151" cy="150876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2463" y="2615184"/>
            <a:ext cx="384048" cy="384048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R3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4527" y="2642616"/>
            <a:ext cx="159859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ambria"/>
              </a:rPr>
              <a:t>Aprobar un invitado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463" y="3182112"/>
            <a:ext cx="2110663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Panel /guest/admin con cuenta administradora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8615" y="2377440"/>
            <a:ext cx="2586151" cy="150876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76359" y="2615184"/>
            <a:ext cx="384048" cy="384048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R4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8423" y="2642616"/>
            <a:ext cx="159859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ambria"/>
              </a:rPr>
              <a:t>Añadir una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6359" y="3182112"/>
            <a:ext cx="2110663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Nueva stanza, regenerar y verificar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069080"/>
            <a:ext cx="2586151" cy="150876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306824"/>
            <a:ext cx="384048" cy="384048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R5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4334256"/>
            <a:ext cx="159859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ambria"/>
              </a:rPr>
              <a:t>Reiniciar un servicio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873752"/>
            <a:ext cx="2110663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docker compose restart o up -d --build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90823" y="4069080"/>
            <a:ext cx="2586151" cy="150876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28567" y="4306824"/>
            <a:ext cx="384048" cy="384048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R6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40631" y="4334256"/>
            <a:ext cx="159859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ambria"/>
              </a:rPr>
              <a:t>Renovar el certificado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8567" y="4873752"/>
            <a:ext cx="2110663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Script de emisión TLS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4719" y="4069080"/>
            <a:ext cx="2586151" cy="150876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52463" y="4306824"/>
            <a:ext cx="384048" cy="384048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R7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4527" y="4334256"/>
            <a:ext cx="159859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F5A"/>
                </a:solidFill>
                <a:latin typeface="Cambria"/>
              </a:rPr>
              <a:t>Copia de seguridad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2463" y="4873752"/>
            <a:ext cx="2110663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Volumen de datos, .env, stanzas y certificados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8615" y="4069080"/>
            <a:ext cx="2586151" cy="1508760"/>
          </a:xfrm>
          <a:prstGeom prst="roundRect">
            <a:avLst>
              <a:gd name="adj" fmla="val 6000"/>
            </a:avLst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76359" y="4279392"/>
            <a:ext cx="21106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E8A33D"/>
                </a:solidFill>
                <a:latin typeface="Cambria"/>
              </a:rPr>
              <a:t>Validadores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76359" y="4645152"/>
            <a:ext cx="211066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CFE1F5"/>
                </a:solidFill>
                <a:latin typeface="Calibri"/>
              </a:rPr>
              <a:t>validate-m1 … m4 y validate-auth-flows confirman cada bloque funcional.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MÓDULO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Diagnóstico rápido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950974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5A6472"/>
                </a:solidFill>
                <a:latin typeface="Calibri"/>
              </a:rPr>
              <a:t>Los síntomas más frecuentes y la primera actuación recomendada.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286000"/>
            <a:ext cx="11057839" cy="420624"/>
          </a:xfrm>
          <a:prstGeom prst="roundRect">
            <a:avLst>
              <a:gd name="adj" fmla="val 3000"/>
            </a:avLst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38658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Síntoma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87568" y="2386584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Primera actuación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706624"/>
            <a:ext cx="11057839" cy="475488"/>
          </a:xfrm>
          <a:prstGeom prst="roundRect">
            <a:avLst>
              <a:gd name="adj" fmla="val 2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83464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142F5A"/>
                </a:solidFill>
                <a:latin typeface="Calibri"/>
              </a:rPr>
              <a:t>Bucle de inicio de sesión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7568" y="2834640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Ejecutar configure-public-access.sh y revisar los secretos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82112"/>
            <a:ext cx="11057839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310128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142F5A"/>
                </a:solidFill>
                <a:latin typeface="Calibri"/>
              </a:rPr>
              <a:t>Error 502 en /r/...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7568" y="3310128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Revisar el origen, regenerar la configuración y ver los registros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7600"/>
            <a:ext cx="11057839" cy="475488"/>
          </a:xfrm>
          <a:prstGeom prst="roundRect">
            <a:avLst>
              <a:gd name="adj" fmla="val 2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785615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142F5A"/>
                </a:solidFill>
                <a:latin typeface="Calibri"/>
              </a:rPr>
              <a:t>Una editorial no carga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785615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Confirmar la autorización de la IP; comprobar con el simulador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3087"/>
            <a:ext cx="11057839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261103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142F5A"/>
                </a:solidFill>
                <a:latin typeface="Calibri"/>
              </a:rPr>
              <a:t>El campus sigue pidiendo sesión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4261103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Revisar INSTITUTIONAL_CIDRS, regenerar y recargar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08575"/>
            <a:ext cx="11057839" cy="475488"/>
          </a:xfrm>
          <a:prstGeom prst="roundRect">
            <a:avLst>
              <a:gd name="adj" fmla="val 2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4736591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142F5A"/>
                </a:solidFill>
                <a:latin typeface="Calibri"/>
              </a:rPr>
              <a:t>/guest/admin responde 403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736591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Verificar el rol admin y la configuración del portal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084063"/>
            <a:ext cx="11057839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5212079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142F5A"/>
                </a:solidFill>
                <a:latin typeface="Calibri"/>
              </a:rPr>
              <a:t>Metabase rechaza la contraseña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5212079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Usar las credenciales de PostgreSQL del .env del servidor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559551"/>
            <a:ext cx="11057839" cy="475488"/>
          </a:xfrm>
          <a:prstGeom prst="roundRect">
            <a:avLst>
              <a:gd name="adj" fmla="val 2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5687567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142F5A"/>
                </a:solidFill>
                <a:latin typeface="Calibri"/>
              </a:rPr>
              <a:t>La analítica no muestra datos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87568" y="5687567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Revisar log-worker y generar tráfico autenticado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82512"/>
            <a:ext cx="10143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Tabla completa en la sección 15 del manual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MÓDULO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Operación y contingencias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120640" cy="402336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7" y="1901952"/>
            <a:ext cx="457200" cy="457200"/>
          </a:xfrm>
          <a:prstGeom prst="ellipse">
            <a:avLst/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7" y="1975104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142F5A"/>
                </a:solidFill>
                <a:latin typeface="Cambria"/>
              </a:rPr>
              <a:t>Contenidos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578608"/>
            <a:ext cx="45720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Runbooks R1 a R7 y cuándo aplicar cada uno.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Validadores funcionales y lectura de su resultado.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Tabla de diagnóstico y criterio de escalado.</a:t>
            </a:r>
          </a:p>
          <a:p>
            <a:pPr algn="l" marL="171450" indent="-171450">
              <a:lnSpc>
                <a:spcPct val="108000"/>
              </a:lnSpc>
              <a:spcAft>
                <a:spcPts val="900"/>
              </a:spcAft>
              <a:buClr>
                <a:srgbClr val="B97A1E"/>
              </a:buClr>
              <a:buFont typeface="Arial"/>
              <a:buChar char="▪"/>
            </a:pPr>
            <a:r>
              <a:rPr sz="1250" b="0" i="0">
                <a:solidFill>
                  <a:srgbClr val="5A6472"/>
                </a:solidFill>
                <a:latin typeface="Calibri"/>
              </a:rPr>
              <a:t>Copias de seguridad y custodia de secretos.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7608" y="1691640"/>
            <a:ext cx="5617159" cy="2697480"/>
          </a:xfrm>
          <a:prstGeom prst="roundRect">
            <a:avLst>
              <a:gd name="adj" fmla="val 5000"/>
            </a:avLst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20240"/>
            <a:ext cx="5068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Ejercicio G1 — Diagnóstico guiado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95728"/>
            <a:ext cx="506851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1.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Ejecutar validate-m3.sh y validate-m4.sh.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2.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Reiniciar Nginx en el laboratorio y confirmar la recuperación.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3.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Localizar un error con docker compose logs nginx.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4. </a:t>
            </a:r>
            <a:r>
              <a:rPr sz="1200" b="0" i="0">
                <a:solidFill>
                  <a:srgbClr val="CFE1F5"/>
                </a:solidFill>
                <a:latin typeface="Calibri"/>
              </a:rPr>
              <a:t>Clasificar el síntoma según la tabla de diagnóstico.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8" y="4553712"/>
            <a:ext cx="5617159" cy="1161288"/>
          </a:xfrm>
          <a:prstGeom prst="roundRect">
            <a:avLst>
              <a:gd name="adj" fmla="val 5000"/>
            </a:avLst>
          </a:prstGeom>
          <a:solidFill>
            <a:srgbClr val="E6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4736592"/>
            <a:ext cx="5068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 i="0">
                <a:solidFill>
                  <a:srgbClr val="B97A1E"/>
                </a:solidFill>
                <a:latin typeface="Calibri"/>
              </a:rPr>
              <a:t>Criterio de evaluación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5084064"/>
            <a:ext cx="5068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42F5A"/>
                </a:solidFill>
                <a:latin typeface="Calibri"/>
              </a:rPr>
              <a:t>Reinicia un servicio, confirma la salud del sistema y clasifica una incidencia.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i="0">
                <a:solidFill>
                  <a:srgbClr val="142F5A"/>
                </a:solidFill>
                <a:latin typeface="Cambria"/>
              </a:rPr>
              <a:t>Evaluación de competencias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950974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5A6472"/>
                </a:solidFill>
                <a:latin typeface="Calibri"/>
              </a:rPr>
              <a:t>La capacitación se considera superada cuando cada participante demuestra, sobre el sistema, las siguientes capacidades.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487168"/>
            <a:ext cx="5391759" cy="73152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688336"/>
            <a:ext cx="329184" cy="32918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0A1B36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60904"/>
            <a:ext cx="45687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42F5A"/>
                </a:solidFill>
                <a:latin typeface="Calibri"/>
              </a:rPr>
              <a:t>Describe la arquitectura y el papel de cada servicio.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487168"/>
            <a:ext cx="5391759" cy="73152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15887" y="2688336"/>
            <a:ext cx="329184" cy="32918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0A1B36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4799" y="2660904"/>
            <a:ext cx="45687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42F5A"/>
                </a:solidFill>
                <a:latin typeface="Calibri"/>
              </a:rPr>
              <a:t>Verifica el estado del sistema y localiza el registro de un servicio.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328416"/>
            <a:ext cx="5391759" cy="73152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3529584"/>
            <a:ext cx="329184" cy="32918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0A1B36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02152"/>
            <a:ext cx="45687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42F5A"/>
                </a:solidFill>
                <a:latin typeface="Calibri"/>
              </a:rPr>
              <a:t>Inicia sesión con cada perfil y explica qué habilita su 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3328416"/>
            <a:ext cx="5391759" cy="73152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15887" y="3529584"/>
            <a:ext cx="329184" cy="32918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0A1B36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4799" y="3502152"/>
            <a:ext cx="45687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42F5A"/>
                </a:solidFill>
                <a:latin typeface="Calibri"/>
              </a:rPr>
              <a:t>Publica una base de datos nueva en el catálogo.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69664"/>
            <a:ext cx="5391759" cy="73152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370832"/>
            <a:ext cx="329184" cy="32918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0A1B36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43400"/>
            <a:ext cx="45687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42F5A"/>
                </a:solidFill>
                <a:latin typeface="Calibri"/>
              </a:rPr>
              <a:t>Aprueba y rechaza solicitudes de invitado.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4169664"/>
            <a:ext cx="5391759" cy="73152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15887" y="4370832"/>
            <a:ext cx="329184" cy="32918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0A1B36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4799" y="4343400"/>
            <a:ext cx="45687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42F5A"/>
                </a:solidFill>
                <a:latin typeface="Calibri"/>
              </a:rPr>
              <a:t>Construye y exporta un informe de uso.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010912"/>
            <a:ext cx="5391759" cy="73152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9808" y="5212080"/>
            <a:ext cx="329184" cy="32918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0A1B36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84648"/>
            <a:ext cx="45687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42F5A"/>
                </a:solidFill>
                <a:latin typeface="Calibri"/>
              </a:rPr>
              <a:t>Aplica los runbooks y clasifica una incidencia con la tabla.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76127" y="6382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777240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70432"/>
            <a:ext cx="1105783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Lo que queda en la institución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286000"/>
            <a:ext cx="2572435" cy="1645920"/>
          </a:xfrm>
          <a:prstGeom prst="roundRect">
            <a:avLst>
              <a:gd name="adj" fmla="val 7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505456"/>
            <a:ext cx="20969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Manual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090672"/>
            <a:ext cx="209694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CFE1F5"/>
                </a:solidFill>
                <a:latin typeface="Calibri"/>
              </a:rPr>
              <a:t>Técnico, operativo y de capacitación, con runbooks y diagnóstico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286000"/>
            <a:ext cx="2572435" cy="1645920"/>
          </a:xfrm>
          <a:prstGeom prst="roundRect">
            <a:avLst>
              <a:gd name="adj" fmla="val 7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3139" y="2505456"/>
            <a:ext cx="20969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Esta presentación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3139" y="3090672"/>
            <a:ext cx="209694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CFE1F5"/>
                </a:solidFill>
                <a:latin typeface="Calibri"/>
              </a:rPr>
              <a:t>Material de apoyo para repetir la formación internamente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2286000"/>
            <a:ext cx="2572435" cy="1645920"/>
          </a:xfrm>
          <a:prstGeom prst="roundRect">
            <a:avLst>
              <a:gd name="adj" fmla="val 7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2505456"/>
            <a:ext cx="20969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Validadores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7" y="3090672"/>
            <a:ext cx="209694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CFE1F5"/>
                </a:solidFill>
                <a:latin typeface="Calibri"/>
              </a:rPr>
              <a:t>Comprobaciones automáticas de cada bloque funcional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31" y="2286000"/>
            <a:ext cx="2572435" cy="1645920"/>
          </a:xfrm>
          <a:prstGeom prst="roundRect">
            <a:avLst>
              <a:gd name="adj" fmla="val 7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0075" y="2505456"/>
            <a:ext cx="20969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Configuración reproducible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0075" y="3090672"/>
            <a:ext cx="209694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CFE1F5"/>
                </a:solidFill>
                <a:latin typeface="Calibri"/>
              </a:rPr>
              <a:t>Plataforma, plantillas de configuración y scripts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51960"/>
            <a:ext cx="11057839" cy="1508760"/>
          </a:xfrm>
          <a:prstGeom prst="roundRect">
            <a:avLst>
              <a:gd name="adj" fmla="val 5000"/>
            </a:avLst>
          </a:prstGeom>
          <a:solidFill>
            <a:srgbClr val="14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4622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E8A33D"/>
                </a:solidFill>
                <a:latin typeface="Cambria"/>
              </a:rPr>
              <a:t>Direcciones de referencia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809744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CFE1F5"/>
                </a:solidFill>
                <a:latin typeface="Courier New"/>
              </a:rPr>
              <a:t>/databases.html   catálogo de bases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CFE1F5"/>
                </a:solidFill>
                <a:latin typeface="Courier New"/>
              </a:rPr>
              <a:t>/guest/admin   aprobación de invitados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CFE1F5"/>
                </a:solidFill>
                <a:latin typeface="Courier New"/>
              </a:rPr>
              <a:t>/metabase/   informes de uso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462272"/>
            <a:ext cx="4885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E8A33D"/>
                </a:solidFill>
                <a:latin typeface="Cambria"/>
              </a:rPr>
              <a:t>Ante una incidencia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809744"/>
            <a:ext cx="48856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lnSpc>
                <a:spcPct val="108000"/>
              </a:lnSpc>
              <a:spcAft>
                <a:spcPts val="400"/>
              </a:spcAft>
              <a:buClr>
                <a:srgbClr val="E8A33D"/>
              </a:buClr>
              <a:buFont typeface="Arial"/>
              <a:buChar char="▪"/>
            </a:pPr>
            <a:r>
              <a:rPr sz="1150" b="0" i="0">
                <a:solidFill>
                  <a:srgbClr val="CFE1F5"/>
                </a:solidFill>
                <a:latin typeface="Calibri"/>
              </a:rPr>
              <a:t>Comprobar el estado y ejecutar el validador del bloque afectado.</a:t>
            </a:r>
          </a:p>
          <a:p>
            <a:pPr algn="l" marL="171450" indent="-171450">
              <a:lnSpc>
                <a:spcPct val="108000"/>
              </a:lnSpc>
              <a:spcAft>
                <a:spcPts val="400"/>
              </a:spcAft>
              <a:buClr>
                <a:srgbClr val="E8A33D"/>
              </a:buClr>
              <a:buFont typeface="Arial"/>
              <a:buChar char="▪"/>
            </a:pPr>
            <a:r>
              <a:rPr sz="1150" b="0" i="0">
                <a:solidFill>
                  <a:srgbClr val="CFE1F5"/>
                </a:solidFill>
                <a:latin typeface="Calibri"/>
              </a:rPr>
              <a:t>Buscar el síntoma en la tabla de diagnóstico del manual.</a:t>
            </a:r>
          </a:p>
          <a:p>
            <a:pPr algn="l" marL="171450" indent="-171450">
              <a:lnSpc>
                <a:spcPct val="108000"/>
              </a:lnSpc>
              <a:spcAft>
                <a:spcPts val="400"/>
              </a:spcAft>
              <a:buClr>
                <a:srgbClr val="E8A33D"/>
              </a:buClr>
              <a:buFont typeface="Arial"/>
              <a:buChar char="▪"/>
            </a:pPr>
            <a:r>
              <a:rPr sz="1150" b="0" i="0">
                <a:solidFill>
                  <a:srgbClr val="CFE1F5"/>
                </a:solidFill>
                <a:latin typeface="Calibri"/>
              </a:rPr>
              <a:t>Documentar síntoma, validador y registro antes de escalar.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2648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1">
                <a:solidFill>
                  <a:srgbClr val="9EC4EE"/>
                </a:solidFill>
                <a:latin typeface="Calibri"/>
              </a:rPr>
              <a:t>University Library Proxy — capacitación y transferencia de conocimiento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